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7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7999C-8398-456F-9A67-239D101F0491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6BED-5966-4783-9912-999804F8C5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046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083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104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434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59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786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84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155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5769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63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4616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1594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5321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5026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7488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202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984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terminador 3">
            <a:extLst>
              <a:ext uri="{FF2B5EF4-FFF2-40B4-BE49-F238E27FC236}">
                <ns2:creationId id="{44BDE757-5BDA-D02B-EC72-7C6FB4FD0FEC}"/>
              </a:ext>
            </a:extLst>
          </p:cNvPr>
          <p:cNvSpPr/>
          <p:nvPr/>
        </p:nvSpPr>
        <p:spPr>
          <a:xfrm>
            <a:off x="2628900" y="812200"/>
            <a:ext cx="685800" cy="35433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Propuesta Integral</a:t>
            </a:r>
            <a:endParaRPr lang="es-MX" sz="1100" dirty="0"/>
          </a:p>
        </p:txBody>
      </p:sp>
      <p:sp>
        <p:nvSpPr>
          <p:cNvPr id="5" name="Diagrama de flujo: proceso 4">
            <a:extLst>
              <a:ext uri="{FF2B5EF4-FFF2-40B4-BE49-F238E27FC236}">
                <ns2:creationId id="{9B5B145A-FBE9-27C9-4DB7-785B29606DDF}"/>
              </a:ext>
            </a:extLst>
          </p:cNvPr>
          <p:cNvSpPr/>
          <p:nvPr/>
        </p:nvSpPr>
        <p:spPr>
          <a:xfrm>
            <a:off x="2571750" y="1509430"/>
            <a:ext cx="811530" cy="2743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Sistema Biometrico</a:t>
            </a:r>
            <a:endParaRPr lang="es-MX" sz="1100" dirty="0"/>
          </a:p>
        </p:txBody>
      </p:sp>
      <p:sp>
        <p:nvSpPr>
          <p:cNvPr id="6" name="Diagrama de flujo: proceso 5">
            <a:extLst>
              <a:ext uri="{FF2B5EF4-FFF2-40B4-BE49-F238E27FC236}">
                <ns2:creationId id="{F5E6A926-575B-A0DD-4013-E889EEEC816D}"/>
              </a:ext>
            </a:extLst>
          </p:cNvPr>
          <p:cNvSpPr/>
          <p:nvPr/>
        </p:nvSpPr>
        <p:spPr>
          <a:xfrm>
            <a:off x="2023110" y="2353839"/>
            <a:ext cx="1914737" cy="43716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Conversion a EXE</a:t>
            </a:r>
            <a:endParaRPr lang="es-MX" sz="1200" dirty="0"/>
          </a:p>
        </p:txBody>
      </p:sp>
      <p:sp>
        <p:nvSpPr>
          <p:cNvPr id="7" name="Diagrama de flujo: datos 6">
            <a:extLst>
              <a:ext uri="{FF2B5EF4-FFF2-40B4-BE49-F238E27FC236}">
                <ns2:creationId id="{0093D32E-2C85-0FE9-D35B-BFE01F67C152}"/>
              </a:ext>
            </a:extLst>
          </p:cNvPr>
          <p:cNvSpPr/>
          <p:nvPr/>
        </p:nvSpPr>
        <p:spPr>
          <a:xfrm>
            <a:off x="2628900" y="2826702"/>
            <a:ext cx="3765804" cy="1320235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Objetivo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Operar sin depender de instalacion manual de PHP/Nginx en cada equipo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Alcance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Empaquetado local + instalador + actualizaciones + respaldos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Estado actual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Aplicacion web PHP con base MySQL y procesos de asistencia/incidencias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Meta tecnica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Experiencia de uso tipo aplicacion de escritorio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Opciones evaluadas</a:t>
            </a:r>
            <a:endParaRPr lang="es-MX" sz="800" dirty="0">
              <a:solidFill>
                <a:schemeClr val="dk1"/>
              </a:solidFill>
            </a:endParaRPr>
          </a:p>
        </p:txBody>
      </p:sp>
      <p:sp>
        <p:nvSpPr>
          <p:cNvPr id="8" name="Diagrama de flujo: proceso alternativo 7">
            <a:extLst>
              <a:ext uri="{FF2B5EF4-FFF2-40B4-BE49-F238E27FC236}">
                <ns2:creationId id="{E16B762A-27CD-CD23-47F8-F16F08BC5774}"/>
              </a:ext>
            </a:extLst>
          </p:cNvPr>
          <p:cNvSpPr/>
          <p:nvPr/>
        </p:nvSpPr>
        <p:spPr>
          <a:xfrm>
            <a:off x="3283091" y="4686970"/>
            <a:ext cx="1746109" cy="47625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A)</a:t>
            </a:r>
            <a:endParaRPr lang="es-MX" sz="1100" dirty="0"/>
          </a:p>
        </p:txBody>
      </p:sp>
      <p:cxnSp>
        <p:nvCxnSpPr>
          <p:cNvPr id="10" name="Conector recto de flecha 9">
            <a:extLst>
              <a:ext uri="{FF2B5EF4-FFF2-40B4-BE49-F238E27FC236}">
                <ns2:creationId id="{B9B6747B-0B5B-A63F-6BB5-CBF7AB43497F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971800" y="1166530"/>
            <a:ext cx="5715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ns2:creationId id="{4E72537F-FB35-EDDA-9023-87B19103D4B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977515" y="1783750"/>
            <a:ext cx="2964" cy="570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ns2:creationId id="{4B42C5B8-A618-9817-3166-08660934BE0E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4135222" y="4146937"/>
            <a:ext cx="20924" cy="540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grama de flujo: decisión 14">
            <a:extLst>
              <a:ext uri="{FF2B5EF4-FFF2-40B4-BE49-F238E27FC236}">
                <ns2:creationId id="{A62DBDD5-5F3B-20A6-2C3F-B998FCB9C063}"/>
              </a:ext>
            </a:extLst>
          </p:cNvPr>
          <p:cNvSpPr/>
          <p:nvPr/>
        </p:nvSpPr>
        <p:spPr>
          <a:xfrm>
            <a:off x="5557266" y="4620295"/>
            <a:ext cx="672084" cy="60579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de flecha 16">
            <a:extLst>
              <a:ext uri="{FF2B5EF4-FFF2-40B4-BE49-F238E27FC236}">
                <ns2:creationId id="{D20196E4-F5FB-F578-A654-E2750D7DFB6D}"/>
              </a:ext>
            </a:extLst>
          </p:cNvPr>
          <p:cNvCxnSpPr>
            <a:stCxn id="8" idx="3"/>
            <a:endCxn id="15" idx="1"/>
          </p:cNvCxnSpPr>
          <p:nvPr/>
        </p:nvCxnSpPr>
        <p:spPr>
          <a:xfrm flipV="1">
            <a:off x="5029200" y="4923190"/>
            <a:ext cx="528066" cy="1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grama de flujo: conector 17">
            <a:extLst>
              <a:ext uri="{FF2B5EF4-FFF2-40B4-BE49-F238E27FC236}">
                <ns2:creationId id="{ABCD3F39-2A8D-CDB4-E222-7DBA8C234C53}"/>
              </a:ext>
            </a:extLst>
          </p:cNvPr>
          <p:cNvSpPr/>
          <p:nvPr/>
        </p:nvSpPr>
        <p:spPr>
          <a:xfrm>
            <a:off x="6741019" y="4759360"/>
            <a:ext cx="448056" cy="32766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Electron + backend embebido</a:t>
            </a:r>
            <a:endParaRPr lang="es-MX" sz="1100" dirty="0"/>
          </a:p>
        </p:txBody>
      </p:sp>
      <p:sp>
        <p:nvSpPr>
          <p:cNvPr id="19" name="Diagrama de flujo: conector 18">
            <a:extLst>
              <a:ext uri="{FF2B5EF4-FFF2-40B4-BE49-F238E27FC236}">
                <ns2:creationId id="{D92D4C01-F1D1-1065-3D97-6DA863E9CBB9}"/>
              </a:ext>
            </a:extLst>
          </p:cNvPr>
          <p:cNvSpPr/>
          <p:nvPr/>
        </p:nvSpPr>
        <p:spPr>
          <a:xfrm>
            <a:off x="5625846" y="6382914"/>
            <a:ext cx="528828" cy="3429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B)</a:t>
            </a:r>
            <a:endParaRPr lang="es-MX" sz="900" dirty="0"/>
          </a:p>
        </p:txBody>
      </p:sp>
      <p:cxnSp>
        <p:nvCxnSpPr>
          <p:cNvPr id="21" name="Conector recto de flecha 20">
            <a:extLst>
              <a:ext uri="{FF2B5EF4-FFF2-40B4-BE49-F238E27FC236}">
                <ns2:creationId id="{CC717B9B-1D8A-A9B2-ABFC-DBCEC66EE96C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 flipH="1">
            <a:off x="5890260" y="5226085"/>
            <a:ext cx="3048" cy="1156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ns2:creationId id="{3EBEC6F0-746A-6122-B857-EB520D28B0AB}"/>
              </a:ext>
            </a:extLst>
          </p:cNvPr>
          <p:cNvCxnSpPr>
            <a:stCxn id="15" idx="3"/>
            <a:endCxn id="18" idx="2"/>
          </p:cNvCxnSpPr>
          <p:nvPr/>
        </p:nvCxnSpPr>
        <p:spPr>
          <a:xfrm>
            <a:off x="6229350" y="4923190"/>
            <a:ext cx="511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grama de flujo: proceso 23">
            <a:extLst>
              <a:ext uri="{FF2B5EF4-FFF2-40B4-BE49-F238E27FC236}">
                <ns2:creationId id="{2CA88C78-A520-BD95-3928-C6C6CD169B6A}"/>
              </a:ext>
            </a:extLst>
          </p:cNvPr>
          <p:cNvSpPr/>
          <p:nvPr/>
        </p:nvSpPr>
        <p:spPr>
          <a:xfrm>
            <a:off x="7322438" y="2876479"/>
            <a:ext cx="1433689" cy="5410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App nativa con WebView</a:t>
            </a:r>
            <a:endParaRPr lang="es-MX" sz="1000" dirty="0"/>
          </a:p>
        </p:txBody>
      </p:sp>
      <p:sp>
        <p:nvSpPr>
          <p:cNvPr id="30" name="Diagrama de flujo: decisión 29">
            <a:extLst>
              <a:ext uri="{FF2B5EF4-FFF2-40B4-BE49-F238E27FC236}">
                <ns2:creationId id="{E5E5C3C1-F18E-4909-5D0B-21FEA4924E37}"/>
              </a:ext>
            </a:extLst>
          </p:cNvPr>
          <p:cNvSpPr/>
          <p:nvPr/>
        </p:nvSpPr>
        <p:spPr>
          <a:xfrm>
            <a:off x="7726481" y="3926628"/>
            <a:ext cx="625602" cy="7086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Conector: angular 32">
            <a:extLst>
              <a:ext uri="{FF2B5EF4-FFF2-40B4-BE49-F238E27FC236}">
                <ns2:creationId id="{585C2D54-1EAA-F894-8293-B3EA99FE0451}"/>
              </a:ext>
            </a:extLst>
          </p:cNvPr>
          <p:cNvCxnSpPr>
            <a:stCxn id="18" idx="0"/>
            <a:endCxn id="24" idx="1"/>
          </p:cNvCxnSpPr>
          <p:nvPr/>
        </p:nvCxnSpPr>
        <p:spPr>
          <a:xfrm rot="5400000" flipH="1" flipV="1">
            <a:off x="6337557" y="3774480"/>
            <a:ext cx="1612371" cy="3573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ns2:creationId id="{3333268F-0904-6B6D-77E2-E0C57DE9F597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 flipH="1">
            <a:off x="8039282" y="3417499"/>
            <a:ext cx="1" cy="509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grama de flujo: conector 36">
            <a:extLst>
              <a:ext uri="{FF2B5EF4-FFF2-40B4-BE49-F238E27FC236}">
                <ns2:creationId id="{774B6AF2-28B4-58BB-0853-BC927EEB83F8}"/>
              </a:ext>
            </a:extLst>
          </p:cNvPr>
          <p:cNvSpPr/>
          <p:nvPr/>
        </p:nvSpPr>
        <p:spPr>
          <a:xfrm>
            <a:off x="7783631" y="5301368"/>
            <a:ext cx="528828" cy="3429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C)</a:t>
            </a:r>
            <a:endParaRPr lang="es-MX" sz="900" dirty="0"/>
          </a:p>
        </p:txBody>
      </p:sp>
      <p:cxnSp>
        <p:nvCxnSpPr>
          <p:cNvPr id="39" name="Conector recto de flecha 38">
            <a:extLst>
              <a:ext uri="{FF2B5EF4-FFF2-40B4-BE49-F238E27FC236}">
                <ns2:creationId id="{24D357C5-7E71-ABF4-AAC9-B315985DBC18}"/>
              </a:ext>
            </a:extLst>
          </p:cNvPr>
          <p:cNvCxnSpPr>
            <a:stCxn id="30" idx="2"/>
            <a:endCxn id="37" idx="0"/>
          </p:cNvCxnSpPr>
          <p:nvPr/>
        </p:nvCxnSpPr>
        <p:spPr>
          <a:xfrm>
            <a:off x="8039282" y="4635288"/>
            <a:ext cx="8763" cy="66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grama de flujo: conector 39">
            <a:extLst>
              <a:ext uri="{FF2B5EF4-FFF2-40B4-BE49-F238E27FC236}">
                <ns2:creationId id="{94547DE7-C29E-FF95-539E-805F42DCA8D2}"/>
              </a:ext>
            </a:extLst>
          </p:cNvPr>
          <p:cNvSpPr/>
          <p:nvPr/>
        </p:nvSpPr>
        <p:spPr>
          <a:xfrm>
            <a:off x="9042259" y="4117128"/>
            <a:ext cx="448056" cy="32766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Contenedor portable con runtime integrado</a:t>
            </a:r>
            <a:endParaRPr lang="es-MX" sz="1100" dirty="0"/>
          </a:p>
        </p:txBody>
      </p:sp>
      <p:cxnSp>
        <p:nvCxnSpPr>
          <p:cNvPr id="42" name="Conector recto de flecha 41">
            <a:extLst>
              <a:ext uri="{FF2B5EF4-FFF2-40B4-BE49-F238E27FC236}">
                <ns2:creationId id="{ABA02DA4-6263-5F9F-75E5-4A683A50C83F}"/>
              </a:ext>
            </a:extLst>
          </p:cNvPr>
          <p:cNvCxnSpPr>
            <a:stCxn id="30" idx="3"/>
            <a:endCxn id="40" idx="2"/>
          </p:cNvCxnSpPr>
          <p:nvPr/>
        </p:nvCxnSpPr>
        <p:spPr>
          <a:xfrm>
            <a:off x="8352083" y="4280958"/>
            <a:ext cx="690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grama de flujo: proceso 43">
            <a:extLst>
              <a:ext uri="{FF2B5EF4-FFF2-40B4-BE49-F238E27FC236}">
                <ns2:creationId id="{F8461031-D73A-9064-13CE-9EDED772A12F}"/>
              </a:ext>
            </a:extLst>
          </p:cNvPr>
          <p:cNvSpPr/>
          <p:nvPr/>
        </p:nvSpPr>
        <p:spPr>
          <a:xfrm>
            <a:off x="9875520" y="4077951"/>
            <a:ext cx="1219200" cy="457519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Recomendacion</a:t>
            </a:r>
            <a:endParaRPr lang="es-MX" sz="1000" dirty="0"/>
          </a:p>
        </p:txBody>
      </p:sp>
      <p:cxnSp>
        <p:nvCxnSpPr>
          <p:cNvPr id="46" name="Conector recto de flecha 45">
            <a:extLst>
              <a:ext uri="{FF2B5EF4-FFF2-40B4-BE49-F238E27FC236}">
                <ns2:creationId id="{950F5809-8141-B6FE-4992-1C4F4A311072}"/>
              </a:ext>
            </a:extLst>
          </p:cNvPr>
          <p:cNvCxnSpPr>
            <a:cxnSpLocks/>
            <a:stCxn id="40" idx="6"/>
            <a:endCxn id="44" idx="1"/>
          </p:cNvCxnSpPr>
          <p:nvPr/>
        </p:nvCxnSpPr>
        <p:spPr>
          <a:xfrm>
            <a:off x="9490315" y="4280958"/>
            <a:ext cx="385205" cy="25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iagrama de flujo: documento 47">
            <a:extLst>
              <a:ext uri="{FF2B5EF4-FFF2-40B4-BE49-F238E27FC236}">
                <ns2:creationId id="{78CE2929-E63B-9B76-048F-3712F2D33A40}"/>
              </a:ext>
            </a:extLst>
          </p:cNvPr>
          <p:cNvSpPr/>
          <p:nvPr/>
        </p:nvSpPr>
        <p:spPr>
          <a:xfrm>
            <a:off x="8697171" y="5034087"/>
            <a:ext cx="1694985" cy="884501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Fase 1: instalador y runtime integrado; Fase 2: autoactualizador</a:t>
            </a:r>
            <a:endParaRPr lang="es-MX" sz="900" dirty="0"/>
          </a:p>
        </p:txBody>
      </p:sp>
      <p:cxnSp>
        <p:nvCxnSpPr>
          <p:cNvPr id="50" name="Conector recto de flecha 49">
            <a:extLst>
              <a:ext uri="{FF2B5EF4-FFF2-40B4-BE49-F238E27FC236}">
                <ns2:creationId id="{0EFD1E53-B5E2-2174-04A7-95DA2CF66676}"/>
              </a:ext>
            </a:extLst>
          </p:cNvPr>
          <p:cNvCxnSpPr>
            <a:stCxn id="37" idx="6"/>
            <a:endCxn id="48" idx="1"/>
          </p:cNvCxnSpPr>
          <p:nvPr/>
        </p:nvCxnSpPr>
        <p:spPr>
          <a:xfrm>
            <a:off x="8312459" y="5472818"/>
            <a:ext cx="384712" cy="3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grama de flujo: terminador 51">
            <a:extLst>
              <a:ext uri="{FF2B5EF4-FFF2-40B4-BE49-F238E27FC236}">
                <ns2:creationId id="{068C24DC-51EC-DED4-AEB2-A92D5B57A705}"/>
              </a:ext>
            </a:extLst>
          </p:cNvPr>
          <p:cNvSpPr/>
          <p:nvPr/>
        </p:nvSpPr>
        <p:spPr>
          <a:xfrm>
            <a:off x="9242678" y="6417204"/>
            <a:ext cx="625602" cy="34290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Beneficio</a:t>
            </a:r>
            <a:endParaRPr lang="es-MX" sz="1200" dirty="0"/>
          </a:p>
        </p:txBody>
      </p:sp>
      <p:cxnSp>
        <p:nvCxnSpPr>
          <p:cNvPr id="54" name="Conector recto de flecha 53">
            <a:extLst>
              <a:ext uri="{FF2B5EF4-FFF2-40B4-BE49-F238E27FC236}">
                <ns2:creationId id="{BA975F0F-09A4-D96A-BD92-28E829A5ACE6}"/>
              </a:ext>
            </a:extLst>
          </p:cNvPr>
          <p:cNvCxnSpPr>
            <a:stCxn id="19" idx="6"/>
            <a:endCxn id="52" idx="1"/>
          </p:cNvCxnSpPr>
          <p:nvPr/>
        </p:nvCxnSpPr>
        <p:spPr>
          <a:xfrm>
            <a:off x="6154674" y="6554364"/>
            <a:ext cx="3088004" cy="3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ns2:creationId id="{DAD88701-E83B-4382-2E13-124061FFCF59}"/>
              </a:ext>
            </a:extLst>
          </p:cNvPr>
          <p:cNvCxnSpPr>
            <a:stCxn id="48" idx="2"/>
            <a:endCxn id="52" idx="0"/>
          </p:cNvCxnSpPr>
          <p:nvPr/>
        </p:nvCxnSpPr>
        <p:spPr>
          <a:xfrm>
            <a:off x="9544664" y="5860113"/>
            <a:ext cx="10815" cy="557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r 57">
            <a:extLst>
              <a:ext uri="{FF2B5EF4-FFF2-40B4-BE49-F238E27FC236}">
                <ns2:creationId id="{47B6855B-E26F-08CD-BAD6-EDCA78F89E8F}"/>
              </a:ext>
            </a:extLst>
          </p:cNvPr>
          <p:cNvCxnSpPr>
            <a:cxnSpLocks/>
            <a:stCxn id="44" idx="3"/>
            <a:endCxn id="52" idx="3"/>
          </p:cNvCxnSpPr>
          <p:nvPr/>
        </p:nvCxnSpPr>
        <p:spPr>
          <a:xfrm flipH="1">
            <a:off x="9868280" y="4306711"/>
            <a:ext cx="1226440" cy="2281943"/>
          </a:xfrm>
          <a:prstGeom prst="bentConnector3">
            <a:avLst>
              <a:gd name="adj1" fmla="val -186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ángulo: esquinas redondeadas 60">
            <a:extLst>
              <a:ext uri="{FF2B5EF4-FFF2-40B4-BE49-F238E27FC236}">
                <ns2:creationId id="{E347E955-7FEA-CF49-1824-5915648AF880}"/>
              </a:ext>
            </a:extLst>
          </p:cNvPr>
          <p:cNvSpPr/>
          <p:nvPr/>
        </p:nvSpPr>
        <p:spPr>
          <a:xfrm>
            <a:off x="91440" y="102870"/>
            <a:ext cx="11955780" cy="679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Menor friccion operativa y despliegue estandarizado</a:t>
            </a:r>
            <a:endParaRPr lang="es-MX" sz="2800" dirty="0"/>
          </a:p>
        </p:txBody>
      </p:sp>
    </p:spTree>
    <p:extLst>
      <p:ext uri="{BB962C8B-B14F-4D97-AF65-F5344CB8AC3E}">
        <ns3:creationId val="4212546445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grama de flujo: conector 7">
            <a:extLst>
              <a:ext uri="{FF2B5EF4-FFF2-40B4-BE49-F238E27FC236}">
                <ns2:creationId id="{C5229A30-182E-658B-6803-FF6A87EE50DC}"/>
              </a:ext>
            </a:extLst>
          </p:cNvPr>
          <p:cNvSpPr/>
          <p:nvPr/>
        </p:nvSpPr>
        <p:spPr>
          <a:xfrm>
            <a:off x="7854156" y="156683"/>
            <a:ext cx="792480" cy="577213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Arquitectura Propuesta</a:t>
            </a:r>
            <a:endParaRPr lang="es-MX" sz="900" dirty="0"/>
          </a:p>
        </p:txBody>
      </p:sp>
      <p:sp>
        <p:nvSpPr>
          <p:cNvPr id="10" name="Diagrama de flujo: proceso alternativo 9">
            <a:extLst>
              <a:ext uri="{FF2B5EF4-FFF2-40B4-BE49-F238E27FC236}">
                <ns2:creationId id="{4E1F53D3-A2D3-162D-13C1-C2A31C0B85EC}"/>
              </a:ext>
            </a:extLst>
          </p:cNvPr>
          <p:cNvSpPr/>
          <p:nvPr/>
        </p:nvSpPr>
        <p:spPr>
          <a:xfrm>
            <a:off x="7392591" y="1036310"/>
            <a:ext cx="1735455" cy="42672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Cliente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11" name="Diagrama de flujo: decisión 10">
            <a:extLst>
              <a:ext uri="{FF2B5EF4-FFF2-40B4-BE49-F238E27FC236}">
                <ns2:creationId id="{47D0F19E-E803-2334-6364-E64DA7106CF3}"/>
              </a:ext>
            </a:extLst>
          </p:cNvPr>
          <p:cNvSpPr/>
          <p:nvPr/>
        </p:nvSpPr>
        <p:spPr>
          <a:xfrm>
            <a:off x="6807512" y="2001914"/>
            <a:ext cx="2905612" cy="166474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Interfaz local tipo escritorio</a:t>
            </a:r>
          </a:p>
          <a:p>
            <a:pPr algn="ctr"/>
            <a:r>
              <a:rPr lang="es-ES" sz="900" dirty="0"/>
              <a:t>Capa de aplicacion</a:t>
            </a:r>
            <a:r>
              <a:rPr lang="es-ES" sz="900" dirty="0">
                <a:solidFill>
                  <a:schemeClr val="dk1"/>
                </a:solidFill>
              </a:rPr>
              <a:t>Motor PHP embebido + enrutamiento interno</a:t>
            </a:r>
          </a:p>
          <a:p>
            <a:pPr algn="ctr"/>
            <a:r>
              <a:rPr lang="es-ES" sz="900" dirty="0"/>
              <a:t>Datos</a:t>
            </a:r>
            <a:endParaRPr lang="es-MX" sz="900" dirty="0">
              <a:solidFill>
                <a:schemeClr val="dk1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ns2:creationId id="{90A7185C-345F-1C44-9B9B-A13F9B3860C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260318" y="1463030"/>
            <a:ext cx="1" cy="538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grama de flujo: proceso 20">
            <a:extLst>
              <a:ext uri="{FF2B5EF4-FFF2-40B4-BE49-F238E27FC236}">
                <ns2:creationId id="{A5468728-D836-41C7-ED02-F78E1D855F7E}"/>
              </a:ext>
            </a:extLst>
          </p:cNvPr>
          <p:cNvSpPr/>
          <p:nvPr/>
        </p:nvSpPr>
        <p:spPr>
          <a:xfrm>
            <a:off x="4933147" y="445290"/>
            <a:ext cx="1580996" cy="6734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MySQL/SQLite segun escenario de despliegue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22" name="Diagrama de flujo: decisión 21">
            <a:extLst>
              <a:ext uri="{FF2B5EF4-FFF2-40B4-BE49-F238E27FC236}">
                <ns2:creationId id="{25CF2C4F-1787-8397-9DCA-5D0999BC266F}"/>
              </a:ext>
            </a:extLst>
          </p:cNvPr>
          <p:cNvSpPr/>
          <p:nvPr/>
        </p:nvSpPr>
        <p:spPr>
          <a:xfrm>
            <a:off x="5121941" y="3003258"/>
            <a:ext cx="2353627" cy="939168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Seguridad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ns2:creationId id="{84BD15DE-8E91-851F-174C-1FD1AD0107FC}"/>
              </a:ext>
            </a:extLst>
          </p:cNvPr>
          <p:cNvSpPr/>
          <p:nvPr/>
        </p:nvSpPr>
        <p:spPr>
          <a:xfrm>
            <a:off x="1577209" y="6239198"/>
            <a:ext cx="468630" cy="4343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Control de sesiones, cifrado de configuracion y bitacora de auditoria</a:t>
            </a:r>
            <a:endParaRPr lang="es-MX" sz="900" dirty="0"/>
          </a:p>
        </p:txBody>
      </p:sp>
      <p:sp>
        <p:nvSpPr>
          <p:cNvPr id="39" name="Diagrama de flujo: proceso 38">
            <a:extLst>
              <a:ext uri="{FF2B5EF4-FFF2-40B4-BE49-F238E27FC236}">
                <ns2:creationId id="{F9F404E0-5902-2BB6-9A9E-C6314D1258E9}"/>
              </a:ext>
            </a:extLst>
          </p:cNvPr>
          <p:cNvSpPr/>
          <p:nvPr/>
        </p:nvSpPr>
        <p:spPr>
          <a:xfrm>
            <a:off x="5564501" y="4801738"/>
            <a:ext cx="1402080" cy="44672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Operacion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40" name="Diagrama de flujo: proceso 39">
            <a:extLst>
              <a:ext uri="{FF2B5EF4-FFF2-40B4-BE49-F238E27FC236}">
                <ns2:creationId id="{D26FD511-5018-0BE2-EFDF-7576EB9730AA}"/>
              </a:ext>
            </a:extLst>
          </p:cNvPr>
          <p:cNvSpPr/>
          <p:nvPr/>
        </p:nvSpPr>
        <p:spPr>
          <a:xfrm>
            <a:off x="7854156" y="4816796"/>
            <a:ext cx="1402080" cy="45434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Respaldos programados y restauracion guiada</a:t>
            </a:r>
            <a:endParaRPr lang="es-MX" sz="900" dirty="0">
              <a:solidFill>
                <a:schemeClr val="dk1"/>
              </a:solidFill>
            </a:endParaRPr>
          </a:p>
        </p:txBody>
      </p:sp>
      <p:cxnSp>
        <p:nvCxnSpPr>
          <p:cNvPr id="42" name="Conector recto de flecha 41">
            <a:extLst>
              <a:ext uri="{FF2B5EF4-FFF2-40B4-BE49-F238E27FC236}">
                <ns2:creationId id="{57012CCD-975B-3E8B-F1D7-6DFCF0D8491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966581" y="5025100"/>
            <a:ext cx="887575" cy="18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ns2:creationId id="{71C3865E-D29D-D431-F3F1-123BE1578AD5}"/>
              </a:ext>
            </a:extLst>
          </p:cNvPr>
          <p:cNvCxnSpPr>
            <a:stCxn id="22" idx="2"/>
            <a:endCxn id="39" idx="0"/>
          </p:cNvCxnSpPr>
          <p:nvPr/>
        </p:nvCxnSpPr>
        <p:spPr>
          <a:xfrm flipH="1">
            <a:off x="6265541" y="3942426"/>
            <a:ext cx="33214" cy="85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ns2:creationId id="{F9A1934E-0AAC-ACD2-AD06-3D3F716F6876}"/>
              </a:ext>
            </a:extLst>
          </p:cNvPr>
          <p:cNvSpPr txBox="1"/>
          <p:nvPr/>
        </p:nvSpPr>
        <p:spPr>
          <a:xfrm>
            <a:off x="5646643" y="1836650"/>
            <a:ext cx="44386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Integraciones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ns2:creationId id="{FCAD549A-079E-952E-EB25-39A768F8CA76}"/>
              </a:ext>
            </a:extLst>
          </p:cNvPr>
          <p:cNvSpPr txBox="1"/>
          <p:nvPr/>
        </p:nvSpPr>
        <p:spPr>
          <a:xfrm>
            <a:off x="6366182" y="1262366"/>
            <a:ext cx="46863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Importacion de logs DAT y mapeo estable por zkteco_id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Conector recto de flecha 57">
            <a:extLst>
              <a:ext uri="{FF2B5EF4-FFF2-40B4-BE49-F238E27FC236}">
                <ns2:creationId id="{D2F17C34-C906-F033-7502-A81259D5BF4E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8250396" y="733896"/>
            <a:ext cx="9923" cy="30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Diagrama de flujo: proceso 67">
            <a:extLst>
              <a:ext uri="{FF2B5EF4-FFF2-40B4-BE49-F238E27FC236}">
                <ns2:creationId id="{6DAF6137-DF2F-E6E9-C7A7-551E77C9E17C}"/>
              </a:ext>
            </a:extLst>
          </p:cNvPr>
          <p:cNvSpPr/>
          <p:nvPr/>
        </p:nvSpPr>
        <p:spPr>
          <a:xfrm>
            <a:off x="1209615" y="4900536"/>
            <a:ext cx="1219200" cy="103290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Calidad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77" name="CuadroTexto 76">
            <a:extLst>
              <a:ext uri="{FF2B5EF4-FFF2-40B4-BE49-F238E27FC236}">
                <ns2:creationId id="{55ADABE8-7BF2-87BA-31AB-12B0AF0068D9}"/>
              </a:ext>
            </a:extLst>
          </p:cNvPr>
          <p:cNvSpPr txBox="1"/>
          <p:nvPr/>
        </p:nvSpPr>
        <p:spPr>
          <a:xfrm>
            <a:off x="1690853" y="121677"/>
            <a:ext cx="355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Pruebas funcionales, regresion y validacion de reglas de negocio</a:t>
            </a:r>
            <a:endParaRPr lang="es-MX" dirty="0"/>
          </a:p>
        </p:txBody>
      </p:sp>
      <p:sp>
        <p:nvSpPr>
          <p:cNvPr id="2" name="Diagrama de flujo: decisión 1">
            <a:extLst>
              <a:ext uri="{FF2B5EF4-FFF2-40B4-BE49-F238E27FC236}">
                <ns2:creationId id="{2CEF57CF-C9BD-B01B-E0B5-93F3B198D1A0}"/>
              </a:ext>
            </a:extLst>
          </p:cNvPr>
          <p:cNvSpPr/>
          <p:nvPr/>
        </p:nvSpPr>
        <p:spPr>
          <a:xfrm>
            <a:off x="3224455" y="1318726"/>
            <a:ext cx="2192635" cy="144018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Riesgo 1</a:t>
            </a:r>
            <a:endParaRPr lang="es-MX" sz="900" dirty="0"/>
          </a:p>
          <a:p>
            <a:pPr algn="ctr"/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ns2:creationId id="{628145BA-78B2-7203-66D8-3C14F49DF13D}"/>
              </a:ext>
            </a:extLst>
          </p:cNvPr>
          <p:cNvSpPr txBox="1"/>
          <p:nvPr/>
        </p:nvSpPr>
        <p:spPr>
          <a:xfrm>
            <a:off x="2045839" y="1871821"/>
            <a:ext cx="322270" cy="2601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Duplicidad de flujos/modales: consolidar a un solo flujo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Conector: angular 29">
            <a:extLst>
              <a:ext uri="{FF2B5EF4-FFF2-40B4-BE49-F238E27FC236}">
                <ns2:creationId id="{13E3D310-E83E-EFE4-E100-3FA19D7B93C2}"/>
              </a:ext>
            </a:extLst>
          </p:cNvPr>
          <p:cNvCxnSpPr>
            <a:stCxn id="2" idx="3"/>
            <a:endCxn id="22" idx="0"/>
          </p:cNvCxnSpPr>
          <p:nvPr/>
        </p:nvCxnSpPr>
        <p:spPr>
          <a:xfrm>
            <a:off x="5417090" y="2038818"/>
            <a:ext cx="881665" cy="9644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ns2:creationId id="{808E3F41-F350-FFED-85E2-2C7D8F6F2B12}"/>
              </a:ext>
            </a:extLst>
          </p:cNvPr>
          <p:cNvCxnSpPr>
            <a:cxnSpLocks/>
            <a:stCxn id="21" idx="1"/>
            <a:endCxn id="2" idx="0"/>
          </p:cNvCxnSpPr>
          <p:nvPr/>
        </p:nvCxnSpPr>
        <p:spPr>
          <a:xfrm rot="10800000" flipV="1">
            <a:off x="4320773" y="782014"/>
            <a:ext cx="612374" cy="5367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ns2:creationId id="{08412F4E-9838-5E75-6E82-F5BEE2B2946F}"/>
              </a:ext>
            </a:extLst>
          </p:cNvPr>
          <p:cNvSpPr/>
          <p:nvPr/>
        </p:nvSpPr>
        <p:spPr>
          <a:xfrm>
            <a:off x="1028324" y="3047861"/>
            <a:ext cx="1581781" cy="851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900" dirty="0"/>
              <a:t>Riesgo 2</a:t>
            </a:r>
            <a:endParaRPr lang="es-MX" sz="900" dirty="0">
              <a:solidFill>
                <a:schemeClr val="dk1"/>
              </a:solidFill>
            </a:endParaRPr>
          </a:p>
          <a:p>
            <a:pPr algn="ctr"/>
            <a:r>
              <a:rPr lang="es-MX" sz="900" dirty="0">
                <a:solidFill>
                  <a:schemeClr val="dk1"/>
                </a:solidFill>
              </a:rPr>
              <a:t>Mapeo por nombre: migrar a mapeo explicito por tipo_incidencia</a:t>
            </a:r>
          </a:p>
        </p:txBody>
      </p:sp>
      <p:cxnSp>
        <p:nvCxnSpPr>
          <p:cNvPr id="73" name="Conector: angular 72">
            <a:extLst>
              <a:ext uri="{FF2B5EF4-FFF2-40B4-BE49-F238E27FC236}">
                <ns2:creationId id="{49B7D48F-4509-AF51-1EB4-FBBE44E60B52}"/>
              </a:ext>
            </a:extLst>
          </p:cNvPr>
          <p:cNvCxnSpPr>
            <a:cxnSpLocks/>
            <a:stCxn id="11" idx="1"/>
            <a:endCxn id="21" idx="3"/>
          </p:cNvCxnSpPr>
          <p:nvPr/>
        </p:nvCxnSpPr>
        <p:spPr>
          <a:xfrm rot="10800000">
            <a:off x="6514144" y="782014"/>
            <a:ext cx="293369" cy="20522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79">
            <a:extLst>
              <a:ext uri="{FF2B5EF4-FFF2-40B4-BE49-F238E27FC236}">
                <ns2:creationId id="{42730F69-97F4-8308-00E6-FC4602B460C7}"/>
              </a:ext>
            </a:extLst>
          </p:cNvPr>
          <p:cNvCxnSpPr>
            <a:stCxn id="2" idx="1"/>
            <a:endCxn id="48" idx="0"/>
          </p:cNvCxnSpPr>
          <p:nvPr/>
        </p:nvCxnSpPr>
        <p:spPr>
          <a:xfrm rot="10800000" flipV="1">
            <a:off x="1819215" y="2038817"/>
            <a:ext cx="1405240" cy="100904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ns2:creationId id="{ACEDAE25-1327-1ED1-A263-C9D116E1EFB2}"/>
              </a:ext>
            </a:extLst>
          </p:cNvPr>
          <p:cNvCxnSpPr>
            <a:cxnSpLocks/>
            <a:stCxn id="48" idx="2"/>
            <a:endCxn id="68" idx="0"/>
          </p:cNvCxnSpPr>
          <p:nvPr/>
        </p:nvCxnSpPr>
        <p:spPr>
          <a:xfrm>
            <a:off x="1819215" y="3899715"/>
            <a:ext cx="0" cy="1000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ns2:creationId id="{A15832B1-847A-636C-FA27-03630F440069}"/>
              </a:ext>
            </a:extLst>
          </p:cNvPr>
          <p:cNvSpPr txBox="1"/>
          <p:nvPr/>
        </p:nvSpPr>
        <p:spPr>
          <a:xfrm>
            <a:off x="1667576" y="4227121"/>
            <a:ext cx="322270" cy="2601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CuadroTexto 86">
            <a:extLst>
              <a:ext uri="{FF2B5EF4-FFF2-40B4-BE49-F238E27FC236}">
                <ns2:creationId id="{BF5B009D-6F49-9961-6FFD-9C0DA61F62B3}"/>
              </a:ext>
            </a:extLst>
          </p:cNvPr>
          <p:cNvSpPr txBox="1"/>
          <p:nvPr/>
        </p:nvSpPr>
        <p:spPr>
          <a:xfrm>
            <a:off x="3137734" y="3217785"/>
            <a:ext cx="44386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Arquitectura mantenible, auditable y lista para evolucion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1" name="Conector: angular 90">
            <a:extLst>
              <a:ext uri="{FF2B5EF4-FFF2-40B4-BE49-F238E27FC236}">
                <ns2:creationId id="{430DB97B-0897-C836-EC61-3FA696F1226C}"/>
              </a:ext>
            </a:extLst>
          </p:cNvPr>
          <p:cNvCxnSpPr>
            <a:cxnSpLocks/>
            <a:stCxn id="48" idx="3"/>
            <a:endCxn id="22" idx="1"/>
          </p:cNvCxnSpPr>
          <p:nvPr/>
        </p:nvCxnSpPr>
        <p:spPr>
          <a:xfrm flipV="1">
            <a:off x="2610105" y="3472842"/>
            <a:ext cx="2511836" cy="9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angular 92">
            <a:extLst>
              <a:ext uri="{FF2B5EF4-FFF2-40B4-BE49-F238E27FC236}">
                <ns2:creationId id="{42A83C70-6557-997A-ECE8-87CC30D52072}"/>
              </a:ext>
            </a:extLst>
          </p:cNvPr>
          <p:cNvCxnSpPr>
            <a:cxnSpLocks/>
            <a:stCxn id="68" idx="2"/>
            <a:endCxn id="34" idx="0"/>
          </p:cNvCxnSpPr>
          <p:nvPr/>
        </p:nvCxnSpPr>
        <p:spPr>
          <a:xfrm rot="5400000">
            <a:off x="1662491" y="6082474"/>
            <a:ext cx="305758" cy="76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: angular 105">
            <a:extLst>
              <a:ext uri="{FF2B5EF4-FFF2-40B4-BE49-F238E27FC236}">
                <ns2:creationId id="{2F17BEA5-36AA-015A-EFD9-AC4F49365D71}"/>
              </a:ext>
            </a:extLst>
          </p:cNvPr>
          <p:cNvCxnSpPr>
            <a:stCxn id="11" idx="3"/>
            <a:endCxn id="34" idx="3"/>
          </p:cNvCxnSpPr>
          <p:nvPr/>
        </p:nvCxnSpPr>
        <p:spPr>
          <a:xfrm flipH="1">
            <a:off x="2045839" y="2834284"/>
            <a:ext cx="7667285" cy="3622084"/>
          </a:xfrm>
          <a:prstGeom prst="bentConnector3">
            <a:avLst>
              <a:gd name="adj1" fmla="val -29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uadroTexto 108">
            <a:extLst>
              <a:ext uri="{FF2B5EF4-FFF2-40B4-BE49-F238E27FC236}">
                <ns2:creationId id="{D5D5B900-3D4D-05DA-6418-DC4A4FC1669C}"/>
              </a:ext>
            </a:extLst>
          </p:cNvPr>
          <p:cNvSpPr txBox="1"/>
          <p:nvPr/>
        </p:nvSpPr>
        <p:spPr>
          <a:xfrm>
            <a:off x="9981628" y="3228339"/>
            <a:ext cx="452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Diagrama de Capas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ns3:creationId val="614698108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ns2:creationId id="{92CD1259-BAC4-247B-F296-5BC6BE87C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762681560"/>
              </p:ext>
            </p:extLst>
          </p:nvPr>
        </p:nvGraphicFramePr>
        <p:xfrm>
          <a:off x="731520" y="228600"/>
          <a:ext cx="10229850" cy="5590467"/>
        </p:xfrm>
        <a:graphic>
          <a:graphicData uri="http://schemas.openxmlformats.org/drawingml/2006/table">
            <a:tbl>
              <a:tblPr/>
              <a:tblGrid>
                <a:gridCol w="10229850">
                  <a:extLst>
                    <a:ext uri="{9D8B030D-6E8A-4147-A177-3AD203B41FA5}">
                      <ns2:colId val="702677589"/>
                    </a:ext>
                  </a:extLst>
                </a:gridCol>
              </a:tblGrid>
              <a:tr h="4739178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Plan de Generacion y Desarrollo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Fase 0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Diagnostico tecnico y cierre de brechas (1 semana)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Entregable: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Inventario de dependencias, riesgos y plan de migracion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Fase 1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Empaquetado inicial EXE + instalador (2 semanas)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Entregable: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Build ejecutable, instalador firmado y guia de despliegue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Fase 2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Refactor de incidencias y reglas por tipo (2-3 semanas)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Entregable: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Catalogo de justificaciones, validacion jefe y trazabilidad completa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Fase 3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QA integral y piloto controlado (1-2 semanas)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Entregable: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Matriz de pruebas, metricas y acta de aceptacion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Fase 4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Salida a produccion y soporte inicial (1 semana)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Entregable: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Operacion estable, monitoreo y plan de mejora continua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KPIs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Disponibilidad, tasa de errores, tiempo de validacion, cumplimiento quincenal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Cierre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Modelo escalable para nuevas reglas y nuevas incidencias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Hoja de Ruta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/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643" marR="42643" marT="21322" marB="21322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ns2:rowId val="974183744"/>
                  </a:ext>
                </a:extLst>
              </a:tr>
              <a:tr h="213823">
                <a:tc>
                  <a:txBody>
                    <a:bodyPr/>
                    <a:lstStyle/>
                    <a:p>
                      <a:endParaRPr lang="es-MX" sz="800" dirty="0"/>
                    </a:p>
                  </a:txBody>
                  <a:tcPr marL="42643" marR="42643" marT="21322" marB="21322"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ns2:rowId val="3398234549"/>
                  </a:ext>
                </a:extLst>
              </a:tr>
            </a:tbl>
          </a:graphicData>
        </a:graphic>
      </p:graphicFrame>
    </p:spTree>
    <p:extLst>
      <p:ext uri="{BB962C8B-B14F-4D97-AF65-F5344CB8AC3E}">
        <ns3:creationId val="265459038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Viabilidad y Recomendacion Final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Conclusiones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Si es viable convertir el proyecto a formato EXE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Condicion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No elimina servidor; lo encapsula y automatiza para el usuario final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Beneficios clave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Instalacion simplificada, menor dependencia tecnica local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Costo/tiempo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Moderado, con retorno alto por reduccion de incidencias operativas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Gobierno del cambio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Capacitacion breve + manual operativo + protocolo de soporte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Decision sugerida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Aprobar Fase 0 y Fase 1 para validar en piloto institucional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Siguiente paso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Definir alcance de piloto, presupuesto y calendario de liberacion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Responsables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TI + RH + responsables de area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Fecha propuesta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Inicio piloto: marzo 2026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714</Words>
  <Application>Microsoft Office PowerPoint</Application>
  <PresentationFormat>Panorámica</PresentationFormat>
  <Paragraphs>72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Aptos</vt:lpstr>
      <vt:lpstr>Arial</vt:lpstr>
      <vt:lpstr>Century Gothic</vt:lpstr>
      <vt:lpstr>Segoe UI</vt:lpstr>
      <vt:lpstr>Wingdings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 SG</dc:creator>
  <cp:lastModifiedBy>JC SG</cp:lastModifiedBy>
  <cp:revision>18</cp:revision>
  <dcterms:created xsi:type="dcterms:W3CDTF">2025-12-08T15:51:29Z</dcterms:created>
  <dcterms:modified xsi:type="dcterms:W3CDTF">2025-12-09T21:03:56Z</dcterms:modified>
</cp:coreProperties>
</file>